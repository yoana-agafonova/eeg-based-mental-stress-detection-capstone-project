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3028" autoAdjust="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87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Mental Stress Detection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stress states from EEG recordings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Yoana Agafonova  •  Iliana Hristova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University of Applied Sciences </a:t>
            </a:r>
            <a:r>
              <a:rPr lang="en-US" sz="13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stress impairs health, performance and well-being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assessment relies on self-reports — subjective and unreliable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signals offer an objective alternative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captures direct neural correlates of cognitive and emotional states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binary classifier (stress / non-stress) on features extracted from 5-channel EEG recordings captured during controlled experiments.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burnout and anxiety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978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operator stress in critical settings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89788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9788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Biofeedback and intervention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EDF files  •  5 experimental conditions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EEG channels: AF3, T7, Pz, T8, AF4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128 Hz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non-overlapping 10-second windows → 3,507 samples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features per window (15 per channel)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space: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ℝ⁷⁵  →  y ∈ {0 = non-stress,  1 = stress}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749808" cy="868680"/>
          </a:xfrm>
          <a:prstGeom prst="roundRect">
            <a:avLst>
              <a:gd name="adj" fmla="val 8537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749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Files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13248" y="1801368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504688" y="1371600"/>
            <a:ext cx="749808" cy="868680"/>
          </a:xfrm>
          <a:prstGeom prst="roundRect">
            <a:avLst>
              <a:gd name="adj" fmla="val 8537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04688" y="1371600"/>
            <a:ext cx="749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0.5-45 Hz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54496" y="1801368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345936" y="1371600"/>
            <a:ext cx="749808" cy="868680"/>
          </a:xfrm>
          <a:prstGeom prst="roundRect">
            <a:avLst>
              <a:gd name="adj" fmla="val 853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45936" y="1371600"/>
            <a:ext cx="749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95744" y="1801368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187184" y="1371600"/>
            <a:ext cx="749808" cy="868680"/>
          </a:xfrm>
          <a:prstGeom prst="roundRect">
            <a:avLst>
              <a:gd name="adj" fmla="val 8537"/>
            </a:avLst>
          </a:prstGeom>
          <a:solidFill>
            <a:srgbClr val="1A8C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187184" y="1371600"/>
            <a:ext cx="749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features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6992" y="1801368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028432" y="1371600"/>
            <a:ext cx="749808" cy="868680"/>
          </a:xfrm>
          <a:prstGeom prst="roundRect">
            <a:avLst>
              <a:gd name="adj" fmla="val 8537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28432" y="1371600"/>
            <a:ext cx="749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 • Horror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SCWT • TMCT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8346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9F7E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580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Relaxing Music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86.6% stress  •  13.4% non-stress  →  Imbalanced problem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402336" cy="40233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38912" y="1143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332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understand the EEG dataset and its structure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38912" y="2103120"/>
            <a:ext cx="402336" cy="40233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8912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stress and non-stress classes based on experimental conditions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38912" y="30632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38912" y="3063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5351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EEG signals and select relevant channels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8912" y="4023360"/>
            <a:ext cx="402336" cy="402336"/>
          </a:xfrm>
          <a:prstGeom prst="ellipse">
            <a:avLst/>
          </a:prstGeom>
          <a:solidFill>
            <a:srgbClr val="1A8CAA"/>
          </a:solidFill>
          <a:ln w="12700">
            <a:solidFill>
              <a:srgbClr val="1A8C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38912" y="4023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1363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statistical and frequency-domain features from EEG windows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28032" y="1143000"/>
            <a:ext cx="402336" cy="402336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28032" y="1143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0332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multiple machine learning models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28032" y="2103120"/>
            <a:ext cx="402336" cy="402336"/>
          </a:xfrm>
          <a:prstGeom prst="ellipse">
            <a:avLst/>
          </a:prstGeom>
          <a:solidFill>
            <a:srgbClr val="1A8CAA"/>
          </a:solidFill>
          <a:ln w="12700">
            <a:solidFill>
              <a:srgbClr val="1A8C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28032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99339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metrics suitable for imbalanced classification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28032" y="30632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28032" y="3063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95351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limitations and potential improvements of the final model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2800" dirty="0"/>
          </a:p>
        </p:txBody>
      </p:sp>
      <p:pic>
        <p:nvPicPr>
          <p:cNvPr id="3" name="Image 0" descr="/sessions/peaceful-elegant-newton/mnt/eeg-based-mental-stress-detection-capstone-project/outputs/plots/condi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457200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9601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212080" y="1033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212080" y="1554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recordings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78040" y="9601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178040" y="1033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78040" y="1554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stress condition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1945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212080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12080" y="2788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non-stress files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78040" y="21945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178040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Hz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78040" y="2788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frequency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291840"/>
          <a:ext cx="365760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Horror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Relaxing Music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Healey &amp; Picard (2005)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signals can objectively detect stress during real-world tasks — basis for sensor-based monitoring.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Alberdi et al. (2016)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854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is among the most informative signals for stress; frequency-domain features outperform time-domain.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34056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Saeed et al. (2020)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stress classification from EEG using ML achieves competitive results with band power features.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21024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3666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(2001)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59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builds additive models stage-wise — effective for tabular feature data in biomedical settings.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Macro F1-score ≥ 0.55 under file-independent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Preprocessing</a:t>
            </a:r>
            <a:endParaRPr lang="en-US" sz="2800" dirty="0"/>
          </a:p>
        </p:txBody>
      </p:sp>
      <p:pic>
        <p:nvPicPr>
          <p:cNvPr id="3" name="Image 0" descr="/sessions/peaceful-elegant-newton/mnt/eeg-based-mental-stress-detection-capstone-project/outputs/plots/filtered_eeg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34" y="2765704"/>
            <a:ext cx="3873790" cy="21129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23560" y="86868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715000" y="9601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71500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99632" y="886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EDF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99632" y="11430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 library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files, 31 channels each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23560" y="1847088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715000" y="19385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71500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9632" y="18653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99632" y="21214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AF3, T7, Pz, T8, AF4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(frontal + temporal + parietal)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23560" y="2825496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715000" y="29169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71500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2843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99632" y="30998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0.5–45 Hz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drift &amp; high-freq noise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23560" y="3803904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715000" y="389534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715000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99632" y="38221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 Windows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99632" y="40782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 samples/window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3,507 windows total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2BD483-17D4-C4BC-6666-0541E3F0C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1" y="733153"/>
            <a:ext cx="3873790" cy="1936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features per window  =  5 channels  ×  15 features per channel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per channel)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24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26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28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630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233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energy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5354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8348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 Power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per channel, via Welch PSD)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120640" y="2212848"/>
            <a:ext cx="301752" cy="3017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504688" y="219456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8272" y="219456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 Hz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2688336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120640" y="2752344"/>
            <a:ext cx="301752" cy="30175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04688" y="273405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48272" y="273405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Hz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0" y="322783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120640" y="3291840"/>
            <a:ext cx="301752" cy="301752"/>
          </a:xfrm>
          <a:prstGeom prst="ellipse">
            <a:avLst/>
          </a:prstGeom>
          <a:solidFill>
            <a:srgbClr val="1A8CAA"/>
          </a:solidFill>
          <a:ln w="12700">
            <a:solidFill>
              <a:srgbClr val="1A8C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504688" y="327355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48272" y="327355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8–13 Hz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376732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20640" y="3831336"/>
            <a:ext cx="301752" cy="301752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504688" y="3813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8272" y="381304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13–30 Hz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0" y="4306824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120640" y="4370832"/>
            <a:ext cx="301752" cy="30175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504688" y="43525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48272" y="435254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Hz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Validation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Compared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764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(n=300)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2677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with RBF kernel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70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(k=5)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735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813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wrapped in: StandardScaler → Classifier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36092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00600" y="8275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(5-fold)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220724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assigns windows to folds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from same EDF can be in BOTH train and test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leakage → optimistic / inflated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4932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E8F8F5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00600" y="29763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(5-fold, by EDF file)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369564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windows from one EDF file stay in one fold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between correlated windows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Stricter, more realistic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accuracy is misleading here: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Stress for every window achieves 86.6% accuracy — without learning anything.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79810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(Recall_stress + Recall_non-stress) /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both classes equally regardless of frequency. A random classifier scores 0.5.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67919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277025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F1 for each class (unweighted)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724912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models that ignore the minority class. Used as primary selection criterion.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3776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41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Total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712464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for reference but not used for model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pic>
        <p:nvPicPr>
          <p:cNvPr id="3" name="Image 0" descr="/sessions/peaceful-elegant-newton/mnt/eeg-based-mental-stress-detection-capstone-project/outputs/plots/model_comparison_group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484632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Validation (Macro F1-score)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868680"/>
          <a:ext cx="3383280" cy="26517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394960" y="370332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553212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Effect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532120" y="405993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CV:  RF Macro F1 = 0.86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GroupKFold:  RF Macro F1 = 0.54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−0.32  (inflated by leakage)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Gradient Boosting</a:t>
            </a:r>
            <a:endParaRPr lang="en-US" sz="2800" dirty="0"/>
          </a:p>
        </p:txBody>
      </p:sp>
      <p:pic>
        <p:nvPicPr>
          <p:cNvPr id="3" name="Image 0" descr="/sessions/peaceful-elegant-newton/mnt/eeg-based-mental-stress-detection-capstone-project/outputs/plots/confusion_matrix_fina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411480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46320" y="8686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8463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83480" y="1074420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983480" y="10744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97880" y="10744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12280" y="10744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26680" y="10744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83480" y="1714500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983480" y="17145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Non-stress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97880" y="17145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12280" y="17145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26680" y="17145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83480" y="2354580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F0FF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983480" y="23545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897880" y="23545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12280" y="23545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26680" y="23545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983480" y="2994660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983480" y="29946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897880" y="29946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12280" y="29946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26680" y="29946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983480" y="35707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0.82  •  714 test windows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406908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0F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0292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Non-stress recall = 0.16: the model detects only 16% of non-stress windows. Root cause: severe class imbalance (86.6% stress).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800" dirty="0"/>
          </a:p>
        </p:txBody>
      </p:sp>
      <p:pic>
        <p:nvPicPr>
          <p:cNvPr id="3" name="Image 0" descr="/sessions/peaceful-elegant-newton/mnt/eeg-based-mental-stress-detection-capstone-project/outputs/plots/feature_importance_fina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512064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868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69280" y="1298448"/>
            <a:ext cx="306324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779008" y="133502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 Gamma power dominates (26% importance)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2194560"/>
            <a:ext cx="306324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79008" y="223113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features rank above statistical features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3090672"/>
            <a:ext cx="306324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779008" y="31272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and T7 gamma/alpha also prominent — temporal lobes active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0" y="3986784"/>
            <a:ext cx="306324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779008" y="40233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and kurtosis (AF3) reflect non-Gaussian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978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vs. StratifiedKFold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&gt;0.30 F1 difference reveals data leakage when correlated windows from the same recording are split across folds. GroupKFold is the correct approach.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00600" y="978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the Core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39903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Non-stress recall = 0.16. The model defaults to predicting stress. Requires SMOTE or cost-sensitive learning to resolve.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3081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Gamma-Band Dominance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AF4 gamma power = 26% importance. May reflect high-frequency cognitive arousal OR residual muscle artifacts. ICA would clarify.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1148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00600" y="3081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0.58 Meets Success Criterion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5021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≥ 0.55 under file-independent evaluation. Gradient Boosting (0.593) meets this, showing EEG features have genuine discriminative power.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86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EF9F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oversampling to address class imbalance (SMOTE not applied)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3911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EF9F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artifact rejection or ICA — muscle/eye artifacts may affect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5234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EF9F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hyperparameters only — no optimization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46557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EF9F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34838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stress conditions grouped into one class — internal heterogeneity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17880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EF9F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41970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subject-level split — may not generalize across subjects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886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13441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class-weighted Gradient Boosting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03911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ICA-based artifact removal before feature extraction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5234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00600" y="27706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 for hyperparameter tuning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46557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34838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on raw windows (CNN / LSTM)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17880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41970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Subject-independent evaluation and cross-dataset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54864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122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1704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features extracted from 10-second windows carry meaningful information for binary stress classification — Macro F1 = 0.59 under strict GroupKFold evaluation.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122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066544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is essential for EEG window datasets — random CV inflates F1 by &gt;0.30 due to within-file window correlation (data leakage).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122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962656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(86.6% stress) is the dominant bottleneck — non-stress recall = 0.16 without oversampling or cost-sensitive training.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122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66928" y="3895344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85876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Gamma-band and alpha/beta frequency features are the most predictive — consistent with the EEG stress detection literature.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1196</Words>
  <Application>Microsoft Office PowerPoint</Application>
  <PresentationFormat>On-screen Show (16:9)</PresentationFormat>
  <Paragraphs>268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EEG-Based Mental Stress Detection</dc:title>
  <dc:subject>PptxGenJS Presentation</dc:subject>
  <dc:creator>Yoana Agafonova and Iliana Hristova</dc:creator>
  <cp:lastModifiedBy>Yoana Agafonova</cp:lastModifiedBy>
  <cp:revision>5</cp:revision>
  <dcterms:created xsi:type="dcterms:W3CDTF">2026-06-24T19:59:42Z</dcterms:created>
  <dcterms:modified xsi:type="dcterms:W3CDTF">2026-06-25T18:54:43Z</dcterms:modified>
</cp:coreProperties>
</file>