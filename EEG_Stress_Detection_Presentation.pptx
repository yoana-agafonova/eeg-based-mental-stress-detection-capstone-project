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3028" autoAdjust="0"/>
  </p:normalViewPr>
  <p:slideViewPr>
    <p:cSldViewPr snapToGrid="0" snapToObjects="1">
      <p:cViewPr varScale="1">
        <p:scale>
          <a:sx n="82" d="100"/>
          <a:sy n="82" d="100"/>
        </p:scale>
        <p:origin x="147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4875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0584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EEG-Based Mental Stress Detection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stress states from EEG recordings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0" y="3383280"/>
            <a:ext cx="4572000" cy="0"/>
          </a:xfrm>
          <a:prstGeom prst="line">
            <a:avLst/>
          </a:prstGeom>
          <a:noFill/>
          <a:ln w="19050">
            <a:solidFill>
              <a:srgbClr val="0096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56616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Yoana Agafonova  •  Iliana Hristova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 Project </a:t>
            </a:r>
          </a:p>
          <a:p>
            <a:pPr marL="0" indent="0" algn="ctr">
              <a:buNone/>
            </a:pPr>
            <a:r>
              <a:rPr lang="en-US" sz="13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IMC University of Applied Sciences </a:t>
            </a:r>
            <a:r>
              <a:rPr lang="en-US" sz="1300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960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problem?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stress impairs health, performance and well-being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assessment relies on self-reports — subjective and unreliable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signals offer an objective alternative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captures direct neural correlates of cognitive and emotional states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30632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33832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binary classifier (stress / non-stress) on features extracted from 5-channel EEG recordings captured during controlled experiments.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60720" y="914400"/>
            <a:ext cx="2926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897880" y="1005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97880" y="13716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of burnout and anxiety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0" y="2194560"/>
            <a:ext cx="2926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897880" y="2286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Safety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97880" y="2651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operator stress in critical settings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60720" y="3474720"/>
            <a:ext cx="2926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97880" y="35661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Management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97880" y="39319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Biofeedback and intervention systems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EDF files  •  5 experimental conditions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EEG channels: AF3, T7, Pz, T8, AF4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rate: 128 Hz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non-overlapping 10-second windows → 3,507 samples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features per window (15 per channel)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3749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space: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40233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∈ ℝ⁷⁵  →  y ∈ {0 = non-stress,  1 = stress}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749808" cy="868680"/>
          </a:xfrm>
          <a:prstGeom prst="roundRect">
            <a:avLst>
              <a:gd name="adj" fmla="val 8537"/>
            </a:avLst>
          </a:prstGeom>
          <a:solidFill>
            <a:srgbClr val="0A2342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1371600"/>
            <a:ext cx="7498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EDF Files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13248" y="1801368"/>
            <a:ext cx="9144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04688" y="1371600"/>
            <a:ext cx="749808" cy="868680"/>
          </a:xfrm>
          <a:prstGeom prst="roundRect">
            <a:avLst>
              <a:gd name="adj" fmla="val 8537"/>
            </a:avLst>
          </a:prstGeom>
          <a:solidFill>
            <a:srgbClr val="1A5276"/>
          </a:solidFill>
          <a:ln/>
        </p:spPr>
      </p:sp>
      <p:sp>
        <p:nvSpPr>
          <p:cNvPr id="12" name="Text 10"/>
          <p:cNvSpPr/>
          <p:nvPr/>
        </p:nvSpPr>
        <p:spPr>
          <a:xfrm>
            <a:off x="5504688" y="1371600"/>
            <a:ext cx="7498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0.5-45 Hz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54496" y="1801368"/>
            <a:ext cx="9144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45936" y="1371600"/>
            <a:ext cx="749808" cy="868680"/>
          </a:xfrm>
          <a:prstGeom prst="roundRect">
            <a:avLst>
              <a:gd name="adj" fmla="val 8537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345936" y="1371600"/>
            <a:ext cx="7498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095744" y="1801368"/>
            <a:ext cx="9144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87184" y="1371600"/>
            <a:ext cx="749808" cy="868680"/>
          </a:xfrm>
          <a:prstGeom prst="roundRect">
            <a:avLst>
              <a:gd name="adj" fmla="val 8537"/>
            </a:avLst>
          </a:prstGeom>
          <a:solidFill>
            <a:srgbClr val="1A8CAA"/>
          </a:solidFill>
          <a:ln/>
        </p:spPr>
      </p:sp>
      <p:sp>
        <p:nvSpPr>
          <p:cNvPr id="18" name="Text 16"/>
          <p:cNvSpPr/>
          <p:nvPr/>
        </p:nvSpPr>
        <p:spPr>
          <a:xfrm>
            <a:off x="7187184" y="1371600"/>
            <a:ext cx="7498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features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936992" y="1801368"/>
            <a:ext cx="9144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28432" y="1371600"/>
            <a:ext cx="749808" cy="868680"/>
          </a:xfrm>
          <a:prstGeom prst="roundRect">
            <a:avLst>
              <a:gd name="adj" fmla="val 8537"/>
            </a:avLst>
          </a:prstGeom>
          <a:solidFill>
            <a:srgbClr val="0096C7"/>
          </a:solidFill>
          <a:ln/>
        </p:spPr>
      </p:sp>
      <p:sp>
        <p:nvSpPr>
          <p:cNvPr id="21" name="Text 19"/>
          <p:cNvSpPr/>
          <p:nvPr/>
        </p:nvSpPr>
        <p:spPr>
          <a:xfrm>
            <a:off x="8028432" y="1371600"/>
            <a:ext cx="7498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283464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DECEA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0" y="2926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32918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CMPS • Horror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SCWT • TMCT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0" y="283464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E9F7E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58000" y="2926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NON-STRESS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58000" y="32918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Relaxing Music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0" y="402336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balance: 86.6% stress  •  13.4% non-stress  →  Imbalanced problem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206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912" y="1143000"/>
            <a:ext cx="402336" cy="402336"/>
          </a:xfrm>
          <a:prstGeom prst="ellipse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4300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1033272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and understand the EEG dataset and its structure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4206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38912" y="2103120"/>
            <a:ext cx="402336" cy="402336"/>
          </a:xfrm>
          <a:prstGeom prst="ellipse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21031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993392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stress and non-stress classes based on experimental conditions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5760" y="2880360"/>
            <a:ext cx="4206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912" y="3063240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30632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2953512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 EEG signals and select relevant channels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5760" y="3840480"/>
            <a:ext cx="4206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912" y="4023360"/>
            <a:ext cx="402336" cy="402336"/>
          </a:xfrm>
          <a:prstGeom prst="ellipse">
            <a:avLst/>
          </a:prstGeom>
          <a:solidFill>
            <a:srgbClr val="1A8CAA"/>
          </a:solidFill>
          <a:ln w="12700">
            <a:solidFill>
              <a:srgbClr val="1A8C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40233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913632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statistical and frequency-domain features from EEG windows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0" y="960120"/>
            <a:ext cx="4206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28032" y="1143000"/>
            <a:ext cx="402336" cy="402336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114300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49240" y="1033272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and compare multiple machine learning models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0" y="1920240"/>
            <a:ext cx="4206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28032" y="2103120"/>
            <a:ext cx="402336" cy="402336"/>
          </a:xfrm>
          <a:prstGeom prst="ellipse">
            <a:avLst/>
          </a:prstGeom>
          <a:solidFill>
            <a:srgbClr val="1A8CAA"/>
          </a:solidFill>
          <a:ln w="12700">
            <a:solidFill>
              <a:srgbClr val="1A8C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21031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49240" y="1993392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models using metrics suitable for imbalanced classification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754880" y="2880360"/>
            <a:ext cx="4206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28032" y="3063240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28032" y="30632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49240" y="2953512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limitations and potential improvements of the final model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Exploratory Analysis</a:t>
            </a:r>
            <a:endParaRPr lang="en-US" sz="2800" dirty="0"/>
          </a:p>
        </p:txBody>
      </p:sp>
      <p:pic>
        <p:nvPicPr>
          <p:cNvPr id="3" name="Image 0" descr="/sessions/peaceful-elegant-newton/mnt/eeg-based-mental-stress-detection-capstone-project/outputs/plots/condition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68680"/>
            <a:ext cx="4572000" cy="2468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212080" y="9601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212080" y="1033272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212080" y="15544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EDF recordings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178040" y="9601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78040" y="1033272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22-24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178040" y="15544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per stress condition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212080" y="219456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212080" y="2267712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212080" y="27889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non-stress files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178040" y="219456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178040" y="2267712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Hz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178040" y="27889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frequency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3291840"/>
          <a:ext cx="3657600" cy="15544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8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Horror 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SCWT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Relaxing Music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Non-stress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05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Healey &amp; Picard (2005)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2984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signals can objectively detect stress during real-world tasks — basis for sensor-based monitoring.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8412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8928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Alberdi et al. (2016)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185416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is among the most informative signals for stress; frequency-domain features outperform time-domain.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734056"/>
            <a:ext cx="8412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7797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Saeed et al. (2020)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07238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stress classification from EEG using ML achieves competitive results with band power features.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621024"/>
            <a:ext cx="8412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366674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Friedman (2001)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39593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builds additive models stage-wise — effective for tabular feature data in biomedical settings.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4526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criteria: Macro F1-score ≥ 0.55 under file-independent evaluation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Preprocessing</a:t>
            </a:r>
            <a:endParaRPr lang="en-US" sz="2800" dirty="0"/>
          </a:p>
        </p:txBody>
      </p:sp>
      <p:pic>
        <p:nvPicPr>
          <p:cNvPr id="3" name="Image 0" descr="/sessions/peaceful-elegant-newton/mnt/eeg-based-mental-stress-detection-capstone-project/outputs/plots/filtered_eeg_sig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68680"/>
            <a:ext cx="5029200" cy="2743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868680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5715000" y="96012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715000" y="960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199632" y="88696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EDF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99632" y="1143000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 library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files, 31 channels each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23560" y="1847088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15000" y="1938528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15000" y="19385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9632" y="1865376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Channels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199632" y="212140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AF3, T7, Pz, T8, AF4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(frontal + temporal + parietal)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23560" y="2825496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715000" y="2916936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0" y="29169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284378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Bandpass Filter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199632" y="3099816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0.5–45 Hz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drift &amp; high-freq noise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23560" y="3803904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715000" y="3895344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15000" y="38953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199632" y="382219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10-sec Windows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199632" y="4078224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1,280 samples/window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3,507 windows total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" y="36393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EEG signal (0.5–45 Hz bandpass, MNE)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features per window  =  5 channels  ×  15 features per channel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Features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 per channel)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1214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4231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deviation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72491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/ Max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32841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36301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Skewness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3931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Kurtosis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2336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energy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453542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137160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8348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Band Power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18288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 per channel, via Welch PSD)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0" y="214884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120640" y="2212848"/>
            <a:ext cx="301752" cy="301752"/>
          </a:xfrm>
          <a:prstGeom prst="ellipse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04688" y="2194560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48272" y="2194560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0.5–4 Hz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0" y="2688336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2752344"/>
            <a:ext cx="301752" cy="301752"/>
          </a:xfrm>
          <a:prstGeom prst="ellipse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04688" y="2734056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Theta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48272" y="2734056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Hz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3227832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0640" y="3291840"/>
            <a:ext cx="301752" cy="301752"/>
          </a:xfrm>
          <a:prstGeom prst="ellipse">
            <a:avLst/>
          </a:prstGeom>
          <a:solidFill>
            <a:srgbClr val="1A8CAA"/>
          </a:solidFill>
          <a:ln w="12700">
            <a:solidFill>
              <a:srgbClr val="1A8C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04688" y="3273552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8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48272" y="3273552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8–13 Hz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029200" y="3767328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/>
        </p:spPr>
      </p:sp>
      <p:sp>
        <p:nvSpPr>
          <p:cNvPr id="32" name="Shape 30"/>
          <p:cNvSpPr/>
          <p:nvPr/>
        </p:nvSpPr>
        <p:spPr>
          <a:xfrm>
            <a:off x="5120640" y="3831336"/>
            <a:ext cx="301752" cy="301752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38130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48272" y="3813048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13–30 Hz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029200" y="4306824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0" y="4370832"/>
            <a:ext cx="301752" cy="301752"/>
          </a:xfrm>
          <a:prstGeom prst="ellipse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04688" y="4352544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95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48272" y="4352544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30–45 Hz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 Validation Strategy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Models Compared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65760" y="126187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76479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(n=300)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26771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with RBF kernel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77063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Neighbors (k=5)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27355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81304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wrapped in: StandardScaler → Classifier pipeline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736092"/>
            <a:ext cx="4023360" cy="2057400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00600" y="8275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StratifiedKFold (5-fold)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220724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assigns windows to folds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from same EDF can be in BOTH train and test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Data leakage → optimistic / inflated results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884932"/>
            <a:ext cx="4023360" cy="2057400"/>
          </a:xfrm>
          <a:prstGeom prst="roundRect">
            <a:avLst>
              <a:gd name="adj" fmla="val 4000"/>
            </a:avLst>
          </a:prstGeom>
          <a:solidFill>
            <a:srgbClr val="E8F8F5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00600" y="29763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GroupKFold (5-fold, by EDF file)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3369564"/>
            <a:ext cx="3749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windows from one EDF file stay in one fold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leakage between correlated windows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Stricter, more realistic evaluation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standard accuracy is misleading here: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12070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Stress for every window achieves 86.6% accuracy — without learning anything.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79810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06654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(Recall_stress + Recall_non-stress) / 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91840" y="173736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both classes equally regardless of frequency. A random classifier scores 0.5.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2679192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770259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F1-Score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054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F1 for each class (unweighted)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2724912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Penalizes models that ignore the minority class. Used as primary selection criterion.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3666744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37764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40416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/ Total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3712464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for reference but not used for model selection.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 Results</a:t>
            </a:r>
            <a:endParaRPr lang="en-US" sz="2800" dirty="0"/>
          </a:p>
        </p:txBody>
      </p:sp>
      <p:pic>
        <p:nvPicPr>
          <p:cNvPr id="3" name="Image 0" descr="/sessions/peaceful-elegant-newton/mnt/eeg-based-mental-stress-detection-capstone-project/outputs/plots/model_comparison_group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68680"/>
            <a:ext cx="4846320" cy="2743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3611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GroupKFold Validation (Macro F1-score)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868680"/>
          <a:ext cx="3383280" cy="265176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Bal. Acc.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 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394960" y="370332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FF8E1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5532120" y="376732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Data Leakage Effect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532120" y="4059936"/>
            <a:ext cx="3108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CV:  RF Macro F1 = 0.86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GroupKFold:  RF Macro F1 = 0.54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 −0.32  (inflated by leakage)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Model: Gradient Boosting</a:t>
            </a:r>
            <a:endParaRPr lang="en-US" sz="2800" dirty="0"/>
          </a:p>
        </p:txBody>
      </p:sp>
      <p:pic>
        <p:nvPicPr>
          <p:cNvPr id="3" name="Image 0" descr="/sessions/peaceful-elegant-newton/mnt/eeg-based-mental-stress-detection-capstone-project/outputs/plots/confusion_matrix_final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68680"/>
            <a:ext cx="4114800" cy="3017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46320" y="868680"/>
            <a:ext cx="393192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4846320" y="548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Report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983480" y="1074420"/>
            <a:ext cx="3657600" cy="566928"/>
          </a:xfrm>
          <a:prstGeom prst="roundRect">
            <a:avLst>
              <a:gd name="adj" fmla="val 6452"/>
            </a:avLst>
          </a:prstGeom>
          <a:solidFill>
            <a:srgbClr val="0A2342"/>
          </a:solidFill>
          <a:ln/>
        </p:spPr>
      </p:sp>
      <p:sp>
        <p:nvSpPr>
          <p:cNvPr id="7" name="Text 4"/>
          <p:cNvSpPr/>
          <p:nvPr/>
        </p:nvSpPr>
        <p:spPr>
          <a:xfrm>
            <a:off x="4983480" y="107442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897880" y="107442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12280" y="107442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26680" y="107442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983480" y="1714500"/>
            <a:ext cx="3657600" cy="566928"/>
          </a:xfrm>
          <a:prstGeom prst="roundRect">
            <a:avLst>
              <a:gd name="adj" fmla="val 6452"/>
            </a:avLst>
          </a:prstGeom>
          <a:solidFill>
            <a:srgbClr val="FFF0F0"/>
          </a:solidFill>
          <a:ln/>
        </p:spPr>
      </p:sp>
      <p:sp>
        <p:nvSpPr>
          <p:cNvPr id="12" name="Text 9"/>
          <p:cNvSpPr/>
          <p:nvPr/>
        </p:nvSpPr>
        <p:spPr>
          <a:xfrm>
            <a:off x="4983480" y="171450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Non-stress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897880" y="171450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812280" y="171450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726680" y="171450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983480" y="2354580"/>
            <a:ext cx="3657600" cy="566928"/>
          </a:xfrm>
          <a:prstGeom prst="roundRect">
            <a:avLst>
              <a:gd name="adj" fmla="val 6452"/>
            </a:avLst>
          </a:prstGeom>
          <a:solidFill>
            <a:srgbClr val="F0FFF0"/>
          </a:solidFill>
          <a:ln/>
        </p:spPr>
      </p:sp>
      <p:sp>
        <p:nvSpPr>
          <p:cNvPr id="17" name="Text 14"/>
          <p:cNvSpPr/>
          <p:nvPr/>
        </p:nvSpPr>
        <p:spPr>
          <a:xfrm>
            <a:off x="4983480" y="235458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897880" y="235458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812280" y="235458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7726680" y="235458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983480" y="2994660"/>
            <a:ext cx="3657600" cy="566928"/>
          </a:xfrm>
          <a:prstGeom prst="roundRect">
            <a:avLst>
              <a:gd name="adj" fmla="val 6452"/>
            </a:avLst>
          </a:prstGeom>
          <a:solidFill>
            <a:srgbClr val="EBF5FB"/>
          </a:solidFill>
          <a:ln/>
        </p:spPr>
      </p:sp>
      <p:sp>
        <p:nvSpPr>
          <p:cNvPr id="22" name="Text 19"/>
          <p:cNvSpPr/>
          <p:nvPr/>
        </p:nvSpPr>
        <p:spPr>
          <a:xfrm>
            <a:off x="4983480" y="299466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897880" y="299466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812280" y="299466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726680" y="299466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983480" y="35707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accuracy: 0.82  •  714 test windows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65760" y="4069080"/>
            <a:ext cx="8412480" cy="685800"/>
          </a:xfrm>
          <a:prstGeom prst="roundRect">
            <a:avLst>
              <a:gd name="adj" fmla="val 9333"/>
            </a:avLst>
          </a:prstGeom>
          <a:solidFill>
            <a:srgbClr val="FFF0F0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02920" y="4114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Non-stress recall = 0.16: the model detects only 16% of non-stress windows. Root cause: severe class imbalance (86.6% stress).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2800" dirty="0"/>
          </a:p>
        </p:txBody>
      </p:sp>
      <p:pic>
        <p:nvPicPr>
          <p:cNvPr id="3" name="Image 0" descr="/sessions/peaceful-elegant-newton/mnt/eeg-based-mental-stress-detection-capstone-project/outputs/plots/feature_importance_final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68680"/>
            <a:ext cx="5120640" cy="320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60720" y="86868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Findings: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0" y="1298448"/>
            <a:ext cx="3063240" cy="758952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779008" y="1335024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AF4 Gamma power dominates (26% importance)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2194560"/>
            <a:ext cx="3063240" cy="758952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779008" y="2231136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Frequency-domain features rank above statistical features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0" y="3090672"/>
            <a:ext cx="3063240" cy="758952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779008" y="3127248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T8 and T7 gamma/alpha also prominent — temporal lobes active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0" y="3986784"/>
            <a:ext cx="3063240" cy="758952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779008" y="4023360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Skewness and kurtosis (AF3) reflect non-Gaussian distributions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114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7840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GroupKFold vs. StratifiedKFold Gap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39903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&gt;0.30 F1 difference reveals data leakage when correlated windows from the same recording are split across folds. GroupKFold is the correct approach.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868680"/>
            <a:ext cx="4114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868680"/>
            <a:ext cx="41148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97840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is the Core Problem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00600" y="139903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Non-stress recall = 0.16. The model defaults to predicting stress. Requires SMOTE or cost-sensitive learning to resolve.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971800"/>
            <a:ext cx="4114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97180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8152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Gamma-Band Dominance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50215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AF4 gamma power = 26% importance. May reflect high-frequency cognitive arousal OR residual muscle artifacts. ICA would clarify.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971800"/>
            <a:ext cx="4114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971800"/>
            <a:ext cx="4114800" cy="5486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308152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= 0.58 Meets Success Criterion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350215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was ≥ 0.55 under file-independent evaluation. Gradient Boosting (0.593) meets this, showing EEG features have genuine discriminative power.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8696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EF9F9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3441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oversampling to address class imbalance (SMOTE not applied)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039112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EF9F9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205740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artifact rejection or ICA — muscle/eye artifacts may affect features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752344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EF9F9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770632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hyperparameters only — no optimization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465576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EF9F9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3483864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stress conditions grouped into one class — internal heterogeneity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4178808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EF9F9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4197096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subject-level split — may not generalize across subjects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63440" y="88696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Improvements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0FFF4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00600" y="13441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SMOTE or class-weighted Gradient Boosting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2039112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0FFF4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00600" y="2057400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ICA-based artifact removal before feature extraction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2752344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0FFF4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00600" y="2770632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cross-validation for hyperparameter tuning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3465576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0FFF4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00600" y="3483864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on raw windows (CNN / LSTM)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4178808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F0FFF4"/>
          </a:solidFill>
          <a:ln/>
          <a:effectLst>
            <a:outerShdw blurRad="635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00600" y="4197096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Subject-independent evaluation and cross-dataset validation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828800" y="1005840"/>
            <a:ext cx="5486400" cy="0"/>
          </a:xfrm>
          <a:prstGeom prst="line">
            <a:avLst/>
          </a:prstGeom>
          <a:noFill/>
          <a:ln w="12700">
            <a:solidFill>
              <a:srgbClr val="0096C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804672"/>
          </a:xfrm>
          <a:prstGeom prst="roundRect">
            <a:avLst>
              <a:gd name="adj" fmla="val 10227"/>
            </a:avLst>
          </a:prstGeom>
          <a:solidFill>
            <a:srgbClr val="122B45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07008"/>
            <a:ext cx="502920" cy="502920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2070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88720" y="1170432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features extracted from 10-second windows carry meaningful information for binary stress classification — Macro F1 = 0.59 under strict GroupKFold evaluation.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1993392"/>
            <a:ext cx="8229600" cy="804672"/>
          </a:xfrm>
          <a:prstGeom prst="roundRect">
            <a:avLst>
              <a:gd name="adj" fmla="val 10227"/>
            </a:avLst>
          </a:prstGeom>
          <a:solidFill>
            <a:srgbClr val="122B45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2103120"/>
            <a:ext cx="502920" cy="502920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88720" y="2066544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GroupKFold is essential for EEG window datasets — random CV inflates F1 by &gt;0.30 due to within-file window correlation (data leakage).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889504"/>
            <a:ext cx="8229600" cy="804672"/>
          </a:xfrm>
          <a:prstGeom prst="roundRect">
            <a:avLst>
              <a:gd name="adj" fmla="val 10227"/>
            </a:avLst>
          </a:prstGeom>
          <a:solidFill>
            <a:srgbClr val="122B45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2999232"/>
            <a:ext cx="502920" cy="502920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2962656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(86.6% stress) is the dominant bottleneck — non-stress recall = 0.16 without oversampling or cost-sensitive training.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785616"/>
            <a:ext cx="8229600" cy="804672"/>
          </a:xfrm>
          <a:prstGeom prst="roundRect">
            <a:avLst>
              <a:gd name="adj" fmla="val 10227"/>
            </a:avLst>
          </a:prstGeom>
          <a:solidFill>
            <a:srgbClr val="122B45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95344"/>
            <a:ext cx="502920" cy="502920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88720" y="3858768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Gamma-band and alpha/beta frequency features are the most predictive — consistent with the EEG stress detection literature.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6817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1211</Words>
  <Application>Microsoft Office PowerPoint</Application>
  <PresentationFormat>On-screen Show (16:9)</PresentationFormat>
  <Paragraphs>270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EEG-Based Mental Stress Detection</dc:title>
  <dc:subject>PptxGenJS Presentation</dc:subject>
  <dc:creator>Yoana Agafonova and Iliana Hristova</dc:creator>
  <cp:lastModifiedBy>Iliana Hristova</cp:lastModifiedBy>
  <cp:revision>4</cp:revision>
  <dcterms:created xsi:type="dcterms:W3CDTF">2026-06-24T19:59:42Z</dcterms:created>
  <dcterms:modified xsi:type="dcterms:W3CDTF">2026-06-24T23:45:13Z</dcterms:modified>
</cp:coreProperties>
</file>